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8" r:id="rId1"/>
  </p:sldMasterIdLst>
  <p:notesMasterIdLst>
    <p:notesMasterId r:id="rId17"/>
  </p:notesMasterIdLst>
  <p:sldIdLst>
    <p:sldId id="256" r:id="rId2"/>
    <p:sldId id="258" r:id="rId3"/>
    <p:sldId id="270" r:id="rId4"/>
    <p:sldId id="257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5" r:id="rId13"/>
    <p:sldId id="269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7D27A1-204D-44C8-B7E8-B0CCA7E6BB90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1F66A-4A71-4CA5-8265-EE89CF9BE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03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7F1F66A-4A71-4CA5-8265-EE89CF9BE3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2138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636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86547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25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570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043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2224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325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1344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45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24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0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60208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362565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131679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6641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0710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1076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32875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1643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6632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513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22871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54843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66462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3636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38909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4107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968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452360" y="4572000"/>
            <a:ext cx="310896" cy="594360"/>
          </a:xfrm>
          <a:prstGeom prst="rect">
            <a:avLst/>
          </a:prstGeom>
          <a:solidFill>
            <a:srgbClr val="464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982712" y="4206240"/>
            <a:ext cx="310896" cy="960120"/>
          </a:xfrm>
          <a:prstGeom prst="rect">
            <a:avLst/>
          </a:prstGeom>
          <a:solidFill>
            <a:srgbClr val="464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513064" y="3749040"/>
            <a:ext cx="310896" cy="1417320"/>
          </a:xfrm>
          <a:prstGeom prst="rect">
            <a:avLst/>
          </a:prstGeom>
          <a:solidFill>
            <a:srgbClr val="464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043416" y="3291840"/>
            <a:ext cx="310896" cy="1874519"/>
          </a:xfrm>
          <a:prstGeom prst="rect">
            <a:avLst/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573768" y="3931920"/>
            <a:ext cx="310896" cy="1234440"/>
          </a:xfrm>
          <a:prstGeom prst="rect">
            <a:avLst/>
          </a:prstGeom>
          <a:solidFill>
            <a:srgbClr val="464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0104120" y="2834640"/>
            <a:ext cx="310896" cy="2331720"/>
          </a:xfrm>
          <a:prstGeom prst="rect">
            <a:avLst/>
          </a:prstGeom>
          <a:solidFill>
            <a:srgbClr val="FF5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 flipV="1">
            <a:off x="7223760" y="3200400"/>
            <a:ext cx="3474720" cy="1874520"/>
          </a:xfrm>
          <a:prstGeom prst="line">
            <a:avLst/>
          </a:prstGeom>
          <a:ln w="31750">
            <a:solidFill>
              <a:srgbClr val="FFB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658368"/>
            <a:ext cx="27432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dirty="0">
                <a:solidFill>
                  <a:srgbClr val="FFB24C"/>
                </a:solidFill>
                <a:latin typeface="Aptos"/>
              </a:rPr>
              <a:t>ZALANDO</a:t>
            </a:r>
            <a:r>
              <a:rPr lang="en-US" sz="1600" b="1" dirty="0">
                <a:solidFill>
                  <a:srgbClr val="FFB24C"/>
                </a:solidFill>
                <a:latin typeface="Aptos"/>
              </a:rPr>
              <a:t> EUROPE</a:t>
            </a:r>
            <a:endParaRPr sz="1600" b="1" dirty="0">
              <a:solidFill>
                <a:srgbClr val="FFB24C"/>
              </a:solidFill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3232" y="1417320"/>
            <a:ext cx="6492240" cy="11387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3400" b="1" dirty="0">
                <a:solidFill>
                  <a:srgbClr val="F5F6F8"/>
                </a:solidFill>
                <a:latin typeface="Aptos"/>
              </a:rPr>
              <a:t>E-Commerce</a:t>
            </a:r>
            <a:r>
              <a:rPr sz="3400" b="1" dirty="0">
                <a:solidFill>
                  <a:srgbClr val="F5F6F8"/>
                </a:solidFill>
                <a:latin typeface="Aptos"/>
              </a:rPr>
              <a:t> Product
Performance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944368"/>
            <a:ext cx="63093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dirty="0">
                <a:solidFill>
                  <a:schemeClr val="bg1"/>
                </a:solidFill>
                <a:latin typeface="Aptos"/>
              </a:rPr>
              <a:t>Product performance • market dynamics • pricing • inventory • customer experience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32180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F6F8"/>
                </a:solidFill>
                <a:latin typeface="Aptos"/>
              </a:rPr>
              <a:t>Duru 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696712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CB1BA"/>
                </a:solidFill>
                <a:latin typeface="Aptos"/>
              </a:rPr>
              <a:t>Data / Product Analyst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897880"/>
            <a:ext cx="2926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ACB1BA"/>
                </a:solidFill>
                <a:latin typeface="Aptos"/>
              </a:rPr>
              <a:t>Business Analytics Portfolio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6F8"/>
                </a:solidFill>
                <a:latin typeface="Aptos"/>
              </a:rPr>
              <a:t>Business Context &amp; Analytical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rgbClr val="FFB24C"/>
                </a:solidFill>
                <a:latin typeface="Aptos"/>
              </a:rPr>
              <a:t>BUSINESS NEED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5166360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>
                <a:solidFill>
                  <a:schemeClr val="bg1"/>
                </a:solidFill>
              </a:rPr>
              <a:t>• Product performance varies across categories, markets, seller models and fulfilment models.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>
                <a:solidFill>
                  <a:schemeClr val="bg1"/>
                </a:solidFill>
              </a:rPr>
              <a:t>• The business needs to understand what drives sales, profitability and customer experience.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>
                <a:solidFill>
                  <a:schemeClr val="bg1"/>
                </a:solidFill>
              </a:rPr>
              <a:t>• The analysis identifies practical opportunities to improve product and operational performance.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08760"/>
            <a:ext cx="210312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FB24C"/>
                </a:solidFill>
                <a:latin typeface="Aptos"/>
              </a:rPr>
              <a:t>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874519"/>
            <a:ext cx="2240280" cy="114300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3952" y="2020824"/>
            <a:ext cx="1911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CB1BA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73952" y="2267712"/>
            <a:ext cx="1911096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F5F6F8"/>
                </a:solidFill>
                <a:latin typeface="Aptos"/>
              </a:rPr>
              <a:t>Data cleaning
&amp; preparation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74519"/>
            <a:ext cx="2240280" cy="114300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88552" y="2020824"/>
            <a:ext cx="1911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CB1BA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8552" y="2267712"/>
            <a:ext cx="19110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6F8"/>
                </a:solidFill>
                <a:latin typeface="Aptos"/>
              </a:rPr>
              <a:t>Comparative
analysis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3291839"/>
            <a:ext cx="2240280" cy="114300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73952" y="3438144"/>
            <a:ext cx="1911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CB1BA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73952" y="3685031"/>
            <a:ext cx="19110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6F8"/>
                </a:solidFill>
                <a:latin typeface="Aptos"/>
              </a:rPr>
              <a:t>Relationship
analysis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3291839"/>
            <a:ext cx="2240280" cy="114300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88552" y="3438144"/>
            <a:ext cx="1911096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ACB1BA"/>
                </a:solidFill>
                <a:latin typeface="Aptos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3685031"/>
            <a:ext cx="191109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F5F6F8"/>
                </a:solidFill>
                <a:latin typeface="Aptos"/>
              </a:rPr>
              <a:t>Power BI
visualization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166360"/>
            <a:ext cx="384048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chemeClr val="bg1"/>
                </a:solidFill>
                <a:latin typeface="Aptos"/>
              </a:rPr>
              <a:t>Tool: Microsoft Power BI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CB1BA"/>
                </a:solidFill>
                <a:latin typeface="Aptos"/>
              </a:rPr>
              <a:t>Zalando Europe Product Performance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CB1BA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D92E-042F-A3F8-A937-9E51ED969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6E6A87-857C-8D9B-4DC1-C3970E933BB4}"/>
              </a:ext>
            </a:extLst>
          </p:cNvPr>
          <p:cNvSpPr/>
          <p:nvPr/>
        </p:nvSpPr>
        <p:spPr>
          <a:xfrm>
            <a:off x="-78658" y="235968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366942-4A9A-C3DC-4C75-EF1A98319131}"/>
              </a:ext>
            </a:extLst>
          </p:cNvPr>
          <p:cNvSpPr txBox="1"/>
          <p:nvPr/>
        </p:nvSpPr>
        <p:spPr>
          <a:xfrm>
            <a:off x="1179871" y="502920"/>
            <a:ext cx="9281652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ptos"/>
              </a:rPr>
              <a:t>Research Questions</a:t>
            </a:r>
            <a:endParaRPr sz="26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1CAD697-E099-DBF4-E499-43BDCDA868E3}"/>
              </a:ext>
            </a:extLst>
          </p:cNvPr>
          <p:cNvSpPr/>
          <p:nvPr/>
        </p:nvSpPr>
        <p:spPr>
          <a:xfrm>
            <a:off x="1187395" y="1918448"/>
            <a:ext cx="4102361" cy="572662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BF0476-C73F-E9D8-A98A-46E285005B60}"/>
              </a:ext>
            </a:extLst>
          </p:cNvPr>
          <p:cNvSpPr txBox="1"/>
          <p:nvPr/>
        </p:nvSpPr>
        <p:spPr>
          <a:xfrm>
            <a:off x="1187395" y="2050733"/>
            <a:ext cx="629823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chemeClr val="bg1"/>
                </a:solidFill>
                <a:latin typeface="Aptos"/>
              </a:rPr>
              <a:t>01</a:t>
            </a:r>
            <a:endParaRPr sz="10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BCCC6B-5F86-48C4-2D0F-476031A86B0F}"/>
              </a:ext>
            </a:extLst>
          </p:cNvPr>
          <p:cNvSpPr txBox="1"/>
          <p:nvPr/>
        </p:nvSpPr>
        <p:spPr>
          <a:xfrm>
            <a:off x="1663428" y="2014689"/>
            <a:ext cx="3488677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F5F6F8"/>
                </a:solidFill>
                <a:latin typeface="Aptos"/>
              </a:rPr>
              <a:t>How are the products performing ?</a:t>
            </a:r>
            <a:endParaRPr sz="1600" b="1" dirty="0">
              <a:solidFill>
                <a:srgbClr val="F5F6F8"/>
              </a:solidFill>
              <a:latin typeface="Aptos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3DB9157-F7E6-FC25-5AF3-BD7ACEDFA231}"/>
              </a:ext>
            </a:extLst>
          </p:cNvPr>
          <p:cNvSpPr/>
          <p:nvPr/>
        </p:nvSpPr>
        <p:spPr>
          <a:xfrm>
            <a:off x="6902244" y="1910050"/>
            <a:ext cx="4827640" cy="621844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65673F-F720-10A9-028C-81D20A823164}"/>
              </a:ext>
            </a:extLst>
          </p:cNvPr>
          <p:cNvSpPr txBox="1"/>
          <p:nvPr/>
        </p:nvSpPr>
        <p:spPr>
          <a:xfrm>
            <a:off x="6984345" y="2068249"/>
            <a:ext cx="716182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Aptos"/>
              </a:rPr>
              <a:t>02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4299B3E-85FF-26FE-A8E0-B4E046B93CA9}"/>
              </a:ext>
            </a:extLst>
          </p:cNvPr>
          <p:cNvSpPr/>
          <p:nvPr/>
        </p:nvSpPr>
        <p:spPr>
          <a:xfrm>
            <a:off x="1002890" y="3721715"/>
            <a:ext cx="4392561" cy="732677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D5CD61-0A1E-1311-033B-C59A79791614}"/>
              </a:ext>
            </a:extLst>
          </p:cNvPr>
          <p:cNvSpPr txBox="1"/>
          <p:nvPr/>
        </p:nvSpPr>
        <p:spPr>
          <a:xfrm>
            <a:off x="1101218" y="3908580"/>
            <a:ext cx="452994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dirty="0">
                <a:solidFill>
                  <a:schemeClr val="bg1"/>
                </a:solidFill>
                <a:latin typeface="Aptos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5958BB-CB18-72FF-A695-1E026AB9C491}"/>
              </a:ext>
            </a:extLst>
          </p:cNvPr>
          <p:cNvSpPr txBox="1"/>
          <p:nvPr/>
        </p:nvSpPr>
        <p:spPr>
          <a:xfrm>
            <a:off x="1563329" y="3803609"/>
            <a:ext cx="3726427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600" b="1" dirty="0">
                <a:solidFill>
                  <a:srgbClr val="F5F6F8"/>
                </a:solidFill>
                <a:latin typeface="Aptos"/>
              </a:rPr>
              <a:t>How can product performance be improved?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28D90A-EA22-725F-796D-9357612F2347}"/>
              </a:ext>
            </a:extLst>
          </p:cNvPr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CB1BA"/>
                </a:solidFill>
                <a:latin typeface="Aptos"/>
              </a:rPr>
              <a:t>Zalando Europe Product Performance Analysis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CA7F84-B637-D77A-A573-25851A7D6439}"/>
              </a:ext>
            </a:extLst>
          </p:cNvPr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CB1BA"/>
                </a:solidFill>
                <a:latin typeface="Aptos"/>
              </a:rPr>
              <a:t>3</a:t>
            </a:r>
          </a:p>
        </p:txBody>
      </p:sp>
      <p:sp>
        <p:nvSpPr>
          <p:cNvPr id="27" name="Rounded Rectangle 9">
            <a:extLst>
              <a:ext uri="{FF2B5EF4-FFF2-40B4-BE49-F238E27FC236}">
                <a16:creationId xmlns:a16="http://schemas.microsoft.com/office/drawing/2014/main" id="{9F9E5012-8D32-5361-695C-32A45A6B192D}"/>
              </a:ext>
            </a:extLst>
          </p:cNvPr>
          <p:cNvSpPr/>
          <p:nvPr/>
        </p:nvSpPr>
        <p:spPr>
          <a:xfrm>
            <a:off x="6900572" y="4036180"/>
            <a:ext cx="4827640" cy="621844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B115B62-7DBA-33D3-4AF4-F8A4DBA89813}"/>
              </a:ext>
            </a:extLst>
          </p:cNvPr>
          <p:cNvSpPr txBox="1"/>
          <p:nvPr/>
        </p:nvSpPr>
        <p:spPr>
          <a:xfrm>
            <a:off x="7342434" y="4036180"/>
            <a:ext cx="404892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F5F6F8"/>
                </a:solidFill>
                <a:latin typeface="Aptos"/>
              </a:rPr>
              <a:t> How does demand affect sales, profitability &amp; inventory ?</a:t>
            </a:r>
            <a:endParaRPr sz="1400" b="1" dirty="0">
              <a:solidFill>
                <a:srgbClr val="F5F6F8"/>
              </a:solidFill>
              <a:latin typeface="Aptos"/>
            </a:endParaRPr>
          </a:p>
        </p:txBody>
      </p:sp>
      <p:sp>
        <p:nvSpPr>
          <p:cNvPr id="30" name="Rounded Rectangle 9">
            <a:extLst>
              <a:ext uri="{FF2B5EF4-FFF2-40B4-BE49-F238E27FC236}">
                <a16:creationId xmlns:a16="http://schemas.microsoft.com/office/drawing/2014/main" id="{58291CAE-2459-8C25-0626-7948F2FF6476}"/>
              </a:ext>
            </a:extLst>
          </p:cNvPr>
          <p:cNvSpPr/>
          <p:nvPr/>
        </p:nvSpPr>
        <p:spPr>
          <a:xfrm>
            <a:off x="6902244" y="2905230"/>
            <a:ext cx="4827640" cy="671077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710F39-09A1-404B-BDEC-EC13DD376949}"/>
              </a:ext>
            </a:extLst>
          </p:cNvPr>
          <p:cNvSpPr txBox="1"/>
          <p:nvPr/>
        </p:nvSpPr>
        <p:spPr>
          <a:xfrm>
            <a:off x="7393267" y="2972915"/>
            <a:ext cx="404892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F5F6F8"/>
                </a:solidFill>
                <a:latin typeface="Aptos"/>
              </a:rPr>
              <a:t> How does pricing &amp; discounts influence product performance ?</a:t>
            </a:r>
            <a:endParaRPr sz="1400" b="1" dirty="0">
              <a:solidFill>
                <a:srgbClr val="F5F6F8"/>
              </a:solidFill>
              <a:latin typeface="Aptos"/>
            </a:endParaRPr>
          </a:p>
        </p:txBody>
      </p:sp>
      <p:sp>
        <p:nvSpPr>
          <p:cNvPr id="36" name="Rounded Rectangle 9">
            <a:extLst>
              <a:ext uri="{FF2B5EF4-FFF2-40B4-BE49-F238E27FC236}">
                <a16:creationId xmlns:a16="http://schemas.microsoft.com/office/drawing/2014/main" id="{39155FAA-B76E-1C80-0761-B26E579011AE}"/>
              </a:ext>
            </a:extLst>
          </p:cNvPr>
          <p:cNvSpPr/>
          <p:nvPr/>
        </p:nvSpPr>
        <p:spPr>
          <a:xfrm>
            <a:off x="6953076" y="4983241"/>
            <a:ext cx="4827640" cy="701756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1A07304-AE9E-E2ED-6C33-436B27A963F2}"/>
              </a:ext>
            </a:extLst>
          </p:cNvPr>
          <p:cNvSpPr txBox="1"/>
          <p:nvPr/>
        </p:nvSpPr>
        <p:spPr>
          <a:xfrm>
            <a:off x="7340761" y="2008674"/>
            <a:ext cx="404892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F5F6F8"/>
                </a:solidFill>
                <a:latin typeface="Aptos"/>
              </a:rPr>
              <a:t>What factors are associated with their performance?</a:t>
            </a:r>
            <a:endParaRPr sz="1400" b="1" dirty="0">
              <a:solidFill>
                <a:srgbClr val="F5F6F8"/>
              </a:solidFill>
              <a:latin typeface="Apto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31747D9-86C5-33E3-4ECD-22A71A8A3E3A}"/>
              </a:ext>
            </a:extLst>
          </p:cNvPr>
          <p:cNvSpPr txBox="1"/>
          <p:nvPr/>
        </p:nvSpPr>
        <p:spPr>
          <a:xfrm>
            <a:off x="6902244" y="3152001"/>
            <a:ext cx="491024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  <a:latin typeface="Aptos"/>
              </a:rPr>
              <a:t>2.1</a:t>
            </a:r>
            <a:endParaRPr sz="12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A4B5CF1-998E-980F-4854-9A9EB6D1BC4A}"/>
              </a:ext>
            </a:extLst>
          </p:cNvPr>
          <p:cNvSpPr txBox="1"/>
          <p:nvPr/>
        </p:nvSpPr>
        <p:spPr>
          <a:xfrm>
            <a:off x="7340761" y="5009643"/>
            <a:ext cx="4387451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b="1" dirty="0">
                <a:solidFill>
                  <a:srgbClr val="F5F6F8"/>
                </a:solidFill>
                <a:latin typeface="Aptos"/>
              </a:rPr>
              <a:t> </a:t>
            </a:r>
            <a:r>
              <a:rPr lang="en-US" sz="1400" b="1" dirty="0">
                <a:solidFill>
                  <a:srgbClr val="F5F6F8"/>
                </a:solidFill>
                <a:latin typeface="Aptos"/>
              </a:rPr>
              <a:t>How does customer ratings and seller/fulfillment models relate to performance ?</a:t>
            </a:r>
            <a:endParaRPr b="1" dirty="0">
              <a:solidFill>
                <a:srgbClr val="F5F6F8"/>
              </a:solidFill>
              <a:latin typeface="Aptos"/>
            </a:endParaRPr>
          </a:p>
        </p:txBody>
      </p:sp>
      <p:sp>
        <p:nvSpPr>
          <p:cNvPr id="52" name="Rounded Rectangle 9">
            <a:extLst>
              <a:ext uri="{FF2B5EF4-FFF2-40B4-BE49-F238E27FC236}">
                <a16:creationId xmlns:a16="http://schemas.microsoft.com/office/drawing/2014/main" id="{0DF06B22-6525-718E-605A-F228B15E03A9}"/>
              </a:ext>
            </a:extLst>
          </p:cNvPr>
          <p:cNvSpPr/>
          <p:nvPr/>
        </p:nvSpPr>
        <p:spPr>
          <a:xfrm>
            <a:off x="6953076" y="5885165"/>
            <a:ext cx="4827640" cy="701756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928B744-D353-0378-7307-A2573855D911}"/>
              </a:ext>
            </a:extLst>
          </p:cNvPr>
          <p:cNvSpPr txBox="1"/>
          <p:nvPr/>
        </p:nvSpPr>
        <p:spPr>
          <a:xfrm>
            <a:off x="7393268" y="6023709"/>
            <a:ext cx="4048925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F5F6F8"/>
                </a:solidFill>
                <a:latin typeface="Aptos"/>
              </a:rPr>
              <a:t>How do returns and delivery affect performance?</a:t>
            </a:r>
            <a:endParaRPr sz="1400" b="1" dirty="0">
              <a:solidFill>
                <a:srgbClr val="F5F6F8"/>
              </a:solidFill>
              <a:latin typeface="Apto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0151C44-B1AF-0263-4E75-AFCD6140D395}"/>
              </a:ext>
            </a:extLst>
          </p:cNvPr>
          <p:cNvSpPr txBox="1"/>
          <p:nvPr/>
        </p:nvSpPr>
        <p:spPr>
          <a:xfrm>
            <a:off x="6902243" y="4177393"/>
            <a:ext cx="491024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  <a:latin typeface="Aptos"/>
              </a:rPr>
              <a:t>2.2</a:t>
            </a:r>
            <a:endParaRPr sz="12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E757ED-3EA2-BB42-9882-6884255A233F}"/>
              </a:ext>
            </a:extLst>
          </p:cNvPr>
          <p:cNvSpPr txBox="1"/>
          <p:nvPr/>
        </p:nvSpPr>
        <p:spPr>
          <a:xfrm>
            <a:off x="6953076" y="5202785"/>
            <a:ext cx="491024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  <a:latin typeface="Aptos"/>
              </a:rPr>
              <a:t>2.3</a:t>
            </a:r>
            <a:endParaRPr sz="12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A1E9432-70AB-1847-3A3F-82D183B050EE}"/>
              </a:ext>
            </a:extLst>
          </p:cNvPr>
          <p:cNvSpPr txBox="1"/>
          <p:nvPr/>
        </p:nvSpPr>
        <p:spPr>
          <a:xfrm>
            <a:off x="6953076" y="6101841"/>
            <a:ext cx="491024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200" b="1" dirty="0">
                <a:solidFill>
                  <a:schemeClr val="bg1"/>
                </a:solidFill>
                <a:latin typeface="Aptos"/>
              </a:rPr>
              <a:t>2.4</a:t>
            </a:r>
            <a:endParaRPr sz="1200" b="1" dirty="0">
              <a:solidFill>
                <a:schemeClr val="bg1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373284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6F8"/>
                </a:solidFill>
                <a:latin typeface="Aptos"/>
              </a:rPr>
              <a:t>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33271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ACB1BA"/>
                </a:solidFill>
                <a:latin typeface="Aptos"/>
              </a:rPr>
              <a:t>A portfolio performing strongly overall, with clear opportunities in inventory, returns and market execution.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2514600" cy="123444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746504"/>
            <a:ext cx="21854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NET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993392"/>
            <a:ext cx="2185416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dirty="0">
                <a:solidFill>
                  <a:srgbClr val="F5F6F8"/>
                </a:solidFill>
                <a:latin typeface="Aptos"/>
              </a:rPr>
              <a:t>€1.17M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2487168"/>
            <a:ext cx="21854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chemeClr val="bg1"/>
                </a:solidFill>
                <a:latin typeface="Aptos"/>
              </a:rPr>
              <a:t>Overall portfolio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37560" y="1600200"/>
            <a:ext cx="2514600" cy="123444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02152" y="1746504"/>
            <a:ext cx="21854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GROSS PROFIT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02152" y="1993392"/>
            <a:ext cx="21854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rgbClr val="F5F6F8"/>
                </a:solidFill>
                <a:latin typeface="Aptos"/>
              </a:rPr>
              <a:t>€487.62K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487168"/>
            <a:ext cx="21854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chemeClr val="bg1"/>
                </a:solidFill>
                <a:latin typeface="Aptos"/>
              </a:rPr>
              <a:t>41.87% average margin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1600200"/>
            <a:ext cx="2514600" cy="123444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99631" y="1746504"/>
            <a:ext cx="21854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UNITS SOLD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1" y="1993392"/>
            <a:ext cx="21854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rgbClr val="F5F6F8"/>
                </a:solidFill>
                <a:latin typeface="Aptos"/>
              </a:rPr>
              <a:t>247K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9631" y="2487168"/>
            <a:ext cx="21854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chemeClr val="bg1"/>
                </a:solidFill>
                <a:latin typeface="Aptos"/>
              </a:rPr>
              <a:t>30-day sales volume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32520" y="1600200"/>
            <a:ext cx="2514600" cy="123444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897112" y="1746504"/>
            <a:ext cx="21854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RETURNS</a:t>
            </a:r>
            <a:endParaRPr sz="85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97112" y="1993392"/>
            <a:ext cx="21854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rgbClr val="FF5E62"/>
                </a:solidFill>
                <a:latin typeface="Aptos"/>
              </a:rPr>
              <a:t>22%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97112" y="2487168"/>
            <a:ext cx="21854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chemeClr val="bg1"/>
                </a:solidFill>
                <a:latin typeface="Aptos"/>
              </a:rPr>
              <a:t>Average return 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246120"/>
            <a:ext cx="1069848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Performance is concentrated in Women, Footwear and Men.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Germany contributes 27.22% of net sales; España records the lowest sales.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Rising-demand products represent the largest share of the portfolio.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Declining-demand products hold the highest inventory, creating a potential demand–stock mismatch.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Returns and stockouts remain important operational and customer-experience risks.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CB1BA"/>
                </a:solidFill>
                <a:latin typeface="Aptos"/>
              </a:rPr>
              <a:t>Zalando Europe Product Performance Analysis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CB1BA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F5F6F8"/>
                </a:solidFill>
                <a:latin typeface="Aptos"/>
              </a:rPr>
              <a:t>RQ1 — How Are the Products Performing?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51460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563624"/>
            <a:ext cx="218541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dirty="0">
                <a:solidFill>
                  <a:schemeClr val="bg1"/>
                </a:solidFill>
                <a:latin typeface="Aptos"/>
              </a:rPr>
              <a:t>NET SALES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10512"/>
            <a:ext cx="21854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rgbClr val="F5F6F8"/>
                </a:solidFill>
                <a:latin typeface="Aptos"/>
              </a:rPr>
              <a:t>€1.17M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417320"/>
            <a:ext cx="251460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02152" y="1563624"/>
            <a:ext cx="21854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GROSS MARGIN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2152" y="1810512"/>
            <a:ext cx="21854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chemeClr val="bg1"/>
                </a:solidFill>
                <a:latin typeface="Aptos"/>
              </a:rPr>
              <a:t>41.87%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417320"/>
            <a:ext cx="251460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199631" y="1563624"/>
            <a:ext cx="21854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AVG. RATING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9631" y="1810512"/>
            <a:ext cx="21854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chemeClr val="bg1"/>
                </a:solidFill>
                <a:latin typeface="Aptos"/>
              </a:rPr>
              <a:t>4.19 /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32520" y="1417320"/>
            <a:ext cx="251460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97112" y="1563624"/>
            <a:ext cx="21854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STOCKOUTS</a:t>
            </a:r>
            <a:endParaRPr sz="85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97112" y="1810512"/>
            <a:ext cx="21854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rgbClr val="FF5E62"/>
                </a:solidFill>
                <a:latin typeface="Aptos"/>
              </a:rPr>
              <a:t>710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97112" y="2258568"/>
            <a:ext cx="21854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chemeClr val="bg1"/>
                </a:solidFill>
                <a:latin typeface="Aptos"/>
              </a:rPr>
              <a:t>4 average stockout days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063240"/>
            <a:ext cx="10789920" cy="2162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Women, Footwear and Men are the strongest-performing categories; Footwear generates the highest gross profit among the leading categories.</a:t>
            </a:r>
          </a:p>
          <a:p>
            <a:pPr>
              <a:spcAft>
                <a:spcPts val="900"/>
              </a:spcAft>
              <a:defRPr sz="145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Mass-tier products contribute the largest share of gross profit (46%), while Premium records the highest brand-tier margin (48%).</a:t>
            </a:r>
          </a:p>
          <a:p>
            <a:pPr>
              <a:spcAft>
                <a:spcPts val="900"/>
              </a:spcAft>
              <a:defRPr sz="145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Germany is the strongest market at 27.22% of net sales; España records the lowest sales.</a:t>
            </a:r>
          </a:p>
          <a:p>
            <a:pPr>
              <a:spcAft>
                <a:spcPts val="900"/>
              </a:spcAft>
              <a:defRPr sz="145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The portfolio is supported by strong sales and demand, but inventory and return pressures create clear areas for improvement.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CB1BA"/>
                </a:solidFill>
                <a:latin typeface="Aptos"/>
              </a:rPr>
              <a:t>Zalando Europe Product Performance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CB1BA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F5F6F8"/>
                </a:solidFill>
                <a:latin typeface="Aptos"/>
              </a:rPr>
              <a:t>RQ2.1 —</a:t>
            </a:r>
            <a:r>
              <a:rPr lang="en-US" sz="2500" b="1" dirty="0">
                <a:solidFill>
                  <a:srgbClr val="F5F6F8"/>
                </a:solidFill>
                <a:latin typeface="Aptos"/>
              </a:rPr>
              <a:t> How Does</a:t>
            </a:r>
            <a:r>
              <a:rPr sz="2500" b="1" dirty="0">
                <a:solidFill>
                  <a:srgbClr val="F5F6F8"/>
                </a:solidFill>
                <a:latin typeface="Aptos"/>
              </a:rPr>
              <a:t> Pricing &amp; Discounts</a:t>
            </a:r>
            <a:r>
              <a:rPr lang="en-US" sz="2500" b="1" dirty="0">
                <a:solidFill>
                  <a:srgbClr val="F5F6F8"/>
                </a:solidFill>
                <a:latin typeface="Aptos"/>
              </a:rPr>
              <a:t> Influence Product Performance</a:t>
            </a:r>
            <a:endParaRPr sz="2500" b="1" dirty="0">
              <a:solidFill>
                <a:srgbClr val="F5F6F8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56032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563624"/>
            <a:ext cx="223113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AVERAGE DISCOUNT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10512"/>
            <a:ext cx="223113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chemeClr val="bg1"/>
                </a:solidFill>
                <a:latin typeface="Aptos"/>
              </a:rPr>
              <a:t>17%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17320"/>
            <a:ext cx="256032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547872" y="1563624"/>
            <a:ext cx="223113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SELLING PRICE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7872" y="1810512"/>
            <a:ext cx="223113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rgbClr val="F5F6F8"/>
                </a:solidFill>
                <a:latin typeface="Aptos"/>
              </a:rPr>
              <a:t>€131.90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417320"/>
            <a:ext cx="256032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291072" y="1563624"/>
            <a:ext cx="223113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CONVERSION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1810512"/>
            <a:ext cx="223113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chemeClr val="bg1"/>
                </a:solidFill>
                <a:latin typeface="Aptos"/>
              </a:rPr>
              <a:t>2.8%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1417320"/>
            <a:ext cx="233172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34272" y="1563624"/>
            <a:ext cx="200253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MARGIN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34272" y="1810512"/>
            <a:ext cx="200253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chemeClr val="bg1"/>
                </a:solidFill>
                <a:latin typeface="Aptos"/>
              </a:rPr>
              <a:t>38–43%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154680"/>
            <a:ext cx="10607040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Moderate discount levels can support sales and conversion, particularly across product categories.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Most regional discounts fall within 7–25%, with gross margins generally between 38–43%.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Deep discounting should be used selectively because higher discounts do not automatically translate into higher profitability</a:t>
            </a:r>
            <a:r>
              <a:rPr dirty="0"/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CB1BA"/>
                </a:solidFill>
                <a:latin typeface="Aptos"/>
              </a:rPr>
              <a:t>Zalando Europe Product Performance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CB1BA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F5F6F8"/>
                </a:solidFill>
                <a:latin typeface="Aptos"/>
              </a:rPr>
              <a:t>RQ2.2 —</a:t>
            </a:r>
            <a:r>
              <a:rPr lang="en-US" sz="2500" b="1" dirty="0">
                <a:solidFill>
                  <a:srgbClr val="F5F6F8"/>
                </a:solidFill>
                <a:latin typeface="Aptos"/>
              </a:rPr>
              <a:t> How Does</a:t>
            </a:r>
            <a:r>
              <a:rPr sz="2500" b="1" dirty="0">
                <a:solidFill>
                  <a:srgbClr val="F5F6F8"/>
                </a:solidFill>
                <a:latin typeface="Aptos"/>
              </a:rPr>
              <a:t> Demand</a:t>
            </a:r>
            <a:r>
              <a:rPr lang="en-US" sz="2500" b="1" dirty="0">
                <a:solidFill>
                  <a:srgbClr val="F5F6F8"/>
                </a:solidFill>
                <a:latin typeface="Aptos"/>
              </a:rPr>
              <a:t> Affect</a:t>
            </a:r>
            <a:r>
              <a:rPr sz="2500" b="1" dirty="0">
                <a:solidFill>
                  <a:srgbClr val="F5F6F8"/>
                </a:solidFill>
                <a:latin typeface="Aptos"/>
              </a:rPr>
              <a:t> Profitability &amp; Inventory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74320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563624"/>
            <a:ext cx="24140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RISING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10512"/>
            <a:ext cx="2414016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dirty="0">
                <a:solidFill>
                  <a:srgbClr val="69C891"/>
                </a:solidFill>
                <a:latin typeface="Aptos"/>
              </a:rPr>
              <a:t>48%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258568"/>
            <a:ext cx="24140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chemeClr val="bg1"/>
                </a:solidFill>
                <a:latin typeface="Aptos"/>
              </a:rPr>
              <a:t>Largest portfolio 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66160" y="1417320"/>
            <a:ext cx="274320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30752" y="1563624"/>
            <a:ext cx="24140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STABLE GROSS MARGIN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30752" y="1810512"/>
            <a:ext cx="24140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chemeClr val="bg1"/>
                </a:solidFill>
                <a:latin typeface="Aptos"/>
              </a:rPr>
              <a:t>43%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30752" y="2258568"/>
            <a:ext cx="24140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chemeClr val="bg1"/>
                </a:solidFill>
                <a:latin typeface="Aptos"/>
              </a:rPr>
              <a:t>Highest by demand group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1417320"/>
            <a:ext cx="274320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56831" y="1563624"/>
            <a:ext cx="24140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DECLINING DISCOUNT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6831" y="1810512"/>
            <a:ext cx="241401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rgbClr val="FF5E62"/>
                </a:solidFill>
                <a:latin typeface="Aptos"/>
              </a:rPr>
              <a:t>18%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2258568"/>
            <a:ext cx="241401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chemeClr val="bg1"/>
                </a:solidFill>
                <a:latin typeface="Aptos"/>
              </a:rPr>
              <a:t>Highest average discount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154680"/>
            <a:ext cx="10515600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Rising-demand products represent the largest share of the portfolio and dominate some categories.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Declining-demand products hold the highest inventory despite receiving the highest average discounts.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The pattern indicates a need to better align stock levels and discount strategies with demand.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CB1BA"/>
                </a:solidFill>
                <a:latin typeface="Aptos"/>
              </a:rPr>
              <a:t>Zalando Europe Product Performance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CB1BA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F5F6F8"/>
                </a:solidFill>
                <a:latin typeface="Aptos"/>
              </a:rPr>
              <a:t>RQ2.3 — </a:t>
            </a:r>
            <a:r>
              <a:rPr lang="en-US" sz="2000" b="1" dirty="0">
                <a:solidFill>
                  <a:srgbClr val="F5F6F8"/>
                </a:solidFill>
                <a:latin typeface="Aptos"/>
              </a:rPr>
              <a:t>How Does Customer </a:t>
            </a:r>
            <a:r>
              <a:rPr sz="2000" b="1" dirty="0">
                <a:solidFill>
                  <a:srgbClr val="F5F6F8"/>
                </a:solidFill>
                <a:latin typeface="Aptos"/>
              </a:rPr>
              <a:t>Ratings</a:t>
            </a:r>
            <a:r>
              <a:rPr lang="en-US" sz="2000" b="1" dirty="0">
                <a:solidFill>
                  <a:srgbClr val="F5F6F8"/>
                </a:solidFill>
                <a:latin typeface="Aptos"/>
              </a:rPr>
              <a:t> &amp; </a:t>
            </a:r>
            <a:r>
              <a:rPr sz="2000" b="1" dirty="0">
                <a:solidFill>
                  <a:srgbClr val="F5F6F8"/>
                </a:solidFill>
                <a:latin typeface="Aptos"/>
              </a:rPr>
              <a:t>Seller</a:t>
            </a:r>
            <a:r>
              <a:rPr lang="en-US" sz="2000" b="1" dirty="0">
                <a:solidFill>
                  <a:srgbClr val="F5F6F8"/>
                </a:solidFill>
                <a:latin typeface="Aptos"/>
              </a:rPr>
              <a:t>/</a:t>
            </a:r>
            <a:r>
              <a:rPr sz="2000" b="1" dirty="0">
                <a:solidFill>
                  <a:srgbClr val="F5F6F8"/>
                </a:solidFill>
                <a:latin typeface="Aptos"/>
              </a:rPr>
              <a:t>Fulfilment</a:t>
            </a:r>
            <a:r>
              <a:rPr lang="en-US" sz="2000" b="1" dirty="0">
                <a:solidFill>
                  <a:srgbClr val="F5F6F8"/>
                </a:solidFill>
                <a:latin typeface="Aptos"/>
              </a:rPr>
              <a:t> Model Relate To Performance</a:t>
            </a:r>
            <a:endParaRPr sz="2000" b="1" dirty="0">
              <a:solidFill>
                <a:srgbClr val="F5F6F8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65176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563624"/>
            <a:ext cx="232257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AVG. RATING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10512"/>
            <a:ext cx="232257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chemeClr val="bg1"/>
                </a:solidFill>
                <a:latin typeface="Aptos"/>
              </a:rPr>
              <a:t>4.19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417320"/>
            <a:ext cx="265176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39312" y="1563624"/>
            <a:ext cx="232257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chemeClr val="bg1"/>
                </a:solidFill>
                <a:latin typeface="Aptos"/>
              </a:rPr>
              <a:t>SALES RELATIONSHIP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1810512"/>
            <a:ext cx="232257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b="1" dirty="0">
                <a:solidFill>
                  <a:schemeClr val="bg1"/>
                </a:solidFill>
                <a:latin typeface="Aptos"/>
              </a:rPr>
              <a:t>Not significant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2258568"/>
            <a:ext cx="232257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chemeClr val="bg1"/>
                </a:solidFill>
                <a:latin typeface="Aptos"/>
              </a:rPr>
              <a:t>Ratings vs sales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265176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73952" y="1563624"/>
            <a:ext cx="2322576" cy="25391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 dirty="0">
                <a:solidFill>
                  <a:schemeClr val="bg1"/>
                </a:solidFill>
                <a:latin typeface="Aptos"/>
              </a:rPr>
              <a:t>SELLER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1810512"/>
            <a:ext cx="2322576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>
                <a:solidFill>
                  <a:schemeClr val="bg1"/>
                </a:solidFill>
                <a:latin typeface="Aptos"/>
              </a:rPr>
              <a:t>Wholesale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258568"/>
            <a:ext cx="232257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chemeClr val="bg1"/>
                </a:solidFill>
                <a:latin typeface="Aptos"/>
              </a:rPr>
              <a:t>Stronger performance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17320"/>
            <a:ext cx="210312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08592" y="1563624"/>
            <a:ext cx="177393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chemeClr val="bg1"/>
                </a:solidFill>
                <a:latin typeface="Aptos"/>
              </a:rPr>
              <a:t>RETURNS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1810512"/>
            <a:ext cx="1773936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 dirty="0">
                <a:solidFill>
                  <a:schemeClr val="bg1"/>
                </a:solidFill>
                <a:latin typeface="Aptos"/>
              </a:rPr>
              <a:t>↑ with 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258568"/>
            <a:ext cx="177393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chemeClr val="bg1"/>
                </a:solidFill>
                <a:latin typeface="Aptos"/>
              </a:rPr>
              <a:t>Older 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154680"/>
            <a:ext cx="1051560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Seller and fulfilment models show clearer performance differences than customer ratings.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Wholesale and Platform Fulfilled record stronger performance, while Private Label records lower sales.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Older products show higher return rates.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Footwear and Premium record the highest complaint rates, highlighting customer-experience priorities.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CB1BA"/>
                </a:solidFill>
                <a:latin typeface="Aptos"/>
              </a:rPr>
              <a:t>Zalando Europe Product Performance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CB1BA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4770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F5F6F8"/>
                </a:solidFill>
                <a:latin typeface="Aptos"/>
              </a:rPr>
              <a:t>RQ2.4 — </a:t>
            </a:r>
            <a:r>
              <a:rPr lang="en-US" sz="2500" b="1" dirty="0">
                <a:solidFill>
                  <a:srgbClr val="F5F6F8"/>
                </a:solidFill>
                <a:latin typeface="Aptos"/>
              </a:rPr>
              <a:t>Hoe Does </a:t>
            </a:r>
            <a:r>
              <a:rPr sz="2500" b="1" dirty="0">
                <a:solidFill>
                  <a:srgbClr val="F5F6F8"/>
                </a:solidFill>
                <a:latin typeface="Aptos"/>
              </a:rPr>
              <a:t>Returns &amp; Delivery</a:t>
            </a:r>
            <a:r>
              <a:rPr lang="en-US" sz="2500" b="1" dirty="0">
                <a:solidFill>
                  <a:srgbClr val="F5F6F8"/>
                </a:solidFill>
                <a:latin typeface="Aptos"/>
              </a:rPr>
              <a:t> Affect Performance</a:t>
            </a:r>
            <a:endParaRPr sz="2500" b="1" dirty="0">
              <a:solidFill>
                <a:srgbClr val="F5F6F8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40080" y="1417320"/>
            <a:ext cx="265176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04671" y="1563624"/>
            <a:ext cx="232257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AVERAGE RETURN RATE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1" y="1810512"/>
            <a:ext cx="232257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rgbClr val="FF5E62"/>
                </a:solidFill>
                <a:latin typeface="Aptos"/>
              </a:rPr>
              <a:t>22%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258568"/>
            <a:ext cx="232257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 dirty="0">
                <a:solidFill>
                  <a:schemeClr val="bg1"/>
                </a:solidFill>
                <a:latin typeface="Aptos"/>
              </a:rPr>
              <a:t>Customer-experience pressure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65176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39312" y="1563624"/>
            <a:ext cx="232257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RETURNED UNITS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9312" y="1810512"/>
            <a:ext cx="232257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chemeClr val="bg1"/>
                </a:solidFill>
                <a:latin typeface="Aptos"/>
              </a:rPr>
              <a:t>≈4K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258568"/>
            <a:ext cx="232257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dirty="0">
                <a:solidFill>
                  <a:schemeClr val="bg1"/>
                </a:solidFill>
                <a:latin typeface="Aptos"/>
              </a:rPr>
              <a:t>Portfolio total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417320"/>
            <a:ext cx="265176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563624"/>
            <a:ext cx="2322576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 dirty="0">
                <a:solidFill>
                  <a:schemeClr val="bg1"/>
                </a:solidFill>
                <a:latin typeface="Aptos"/>
              </a:rPr>
              <a:t>AVG. DELIVERY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810512"/>
            <a:ext cx="2322576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800" b="1" dirty="0">
                <a:solidFill>
                  <a:schemeClr val="bg1"/>
                </a:solidFill>
                <a:latin typeface="Aptos"/>
              </a:rPr>
              <a:t>3.1 days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0" y="1417320"/>
            <a:ext cx="2103120" cy="1188720"/>
          </a:xfrm>
          <a:prstGeom prst="roundRect">
            <a:avLst/>
          </a:prstGeom>
          <a:solidFill>
            <a:srgbClr val="1C1F25"/>
          </a:solidFill>
          <a:ln>
            <a:solidFill>
              <a:srgbClr val="363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08592" y="1563624"/>
            <a:ext cx="1773936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>
                <a:solidFill>
                  <a:schemeClr val="bg1"/>
                </a:solidFill>
                <a:latin typeface="Aptos"/>
              </a:rPr>
              <a:t>TOP RETURN AREAS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08592" y="1810512"/>
            <a:ext cx="1773936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 dirty="0">
                <a:solidFill>
                  <a:schemeClr val="bg1"/>
                </a:solidFill>
                <a:latin typeface="Aptos"/>
              </a:rPr>
              <a:t>Women + Footwear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154680"/>
            <a:ext cx="10515600" cy="1669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5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Women and Footwear record the highest return volumes despite being strong sales categories.</a:t>
            </a:r>
          </a:p>
          <a:p>
            <a:pPr>
              <a:spcAft>
                <a:spcPts val="900"/>
              </a:spcAft>
              <a:defRPr sz="145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Size/Fit, Change of Mind and Not as Described are the leading return reasons.</a:t>
            </a:r>
          </a:p>
          <a:p>
            <a:pPr>
              <a:spcAft>
                <a:spcPts val="900"/>
              </a:spcAft>
              <a:defRPr sz="145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Footwear and Premium have the highest complaint rates.</a:t>
            </a:r>
          </a:p>
          <a:p>
            <a:pPr>
              <a:spcAft>
                <a:spcPts val="900"/>
              </a:spcAft>
              <a:defRPr sz="1450">
                <a:solidFill>
                  <a:srgbClr val="F5F6F8"/>
                </a:solidFill>
                <a:latin typeface="Aptos"/>
              </a:defRPr>
            </a:pPr>
            <a:r>
              <a:rPr sz="1600" dirty="0"/>
              <a:t>• Older products also record higher return rates, highlighting the need for stronger product information, lifecycle management and fulfilment experience.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CB1BA"/>
                </a:solidFill>
                <a:latin typeface="Aptos"/>
              </a:rPr>
              <a:t>Zalando Europe Product Performance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CB1BA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15088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 dirty="0">
                <a:solidFill>
                  <a:srgbClr val="F5F6F8"/>
                </a:solidFill>
                <a:latin typeface="Aptos"/>
              </a:rPr>
              <a:t>RQ3 — How Can Product Performance Be Improved?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B24C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07007" y="1399032"/>
            <a:ext cx="4892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chemeClr val="bg1"/>
                </a:solidFill>
                <a:latin typeface="Aptos"/>
              </a:rPr>
              <a:t>Optimize Product Assortment</a:t>
            </a:r>
            <a:endParaRPr sz="14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207007" y="1737360"/>
            <a:ext cx="4800600" cy="57708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50" b="0" dirty="0">
                <a:solidFill>
                  <a:srgbClr val="ACB1BA"/>
                </a:solidFill>
                <a:latin typeface="Aptos"/>
              </a:rPr>
              <a:t>Prioritize high-performing, rising-demand products in Women, Footwear and Men, while reducing slow-moving and declining-demand products with excess inventory.</a:t>
            </a:r>
            <a:endParaRPr sz="1050" b="0" dirty="0">
              <a:solidFill>
                <a:srgbClr val="ACB1BA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63640" y="141732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B24C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30568" y="1399032"/>
            <a:ext cx="4892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F5F6F8"/>
                </a:solidFill>
                <a:latin typeface="Aptos"/>
              </a:rPr>
              <a:t>Align inventory with demand:</a:t>
            </a:r>
            <a:endParaRPr sz="1400" b="1" dirty="0">
              <a:solidFill>
                <a:srgbClr val="F5F6F8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30568" y="1737360"/>
            <a:ext cx="48006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50" b="0">
                <a:solidFill>
                  <a:srgbClr val="ACB1BA"/>
                </a:solidFill>
                <a:latin typeface="Aptos"/>
              </a:rPr>
              <a:t>Increase stock for high-demand products and reduce excess stock for declining-demand products to minimize stockouts and slow-moving inventory.</a:t>
            </a:r>
            <a:endParaRPr sz="1050" b="0" dirty="0">
              <a:solidFill>
                <a:srgbClr val="ACB1BA"/>
              </a:solidFill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26517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B24C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7" y="2633472"/>
            <a:ext cx="4892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chemeClr val="bg1"/>
                </a:solidFill>
                <a:latin typeface="Aptos"/>
              </a:rPr>
              <a:t>Optimize Market-Specific Pricing</a:t>
            </a:r>
            <a:endParaRPr sz="14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207007" y="2971800"/>
            <a:ext cx="48006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50" b="0">
                <a:solidFill>
                  <a:srgbClr val="ACB1BA"/>
                </a:solidFill>
                <a:latin typeface="Aptos"/>
              </a:rPr>
              <a:t>Use moderate discounts for strong-demand products and deeper discounts to clear slow-moving or excess stock while protecting profit margins.</a:t>
            </a:r>
            <a:endParaRPr sz="1050" b="0" dirty="0">
              <a:solidFill>
                <a:srgbClr val="ACB1BA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263640" y="26517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B24C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30568" y="2633472"/>
            <a:ext cx="4892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F5F6F8"/>
                </a:solidFill>
                <a:latin typeface="Aptos"/>
              </a:rPr>
              <a:t>Strengthen seller &amp; fulfilment strategy:</a:t>
            </a:r>
            <a:endParaRPr sz="1400" b="1" dirty="0">
              <a:solidFill>
                <a:srgbClr val="F5F6F8"/>
              </a:solidFill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830568" y="2971800"/>
            <a:ext cx="48006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50" b="0" dirty="0">
                <a:solidFill>
                  <a:srgbClr val="ACB1BA"/>
                </a:solidFill>
                <a:latin typeface="Aptos"/>
              </a:rPr>
              <a:t>Expand effective seller and fulfilment practices while improving weaker markets and sellers to boost sales, conversion, and profit margins.</a:t>
            </a:r>
            <a:endParaRPr sz="1050" b="0" dirty="0">
              <a:solidFill>
                <a:srgbClr val="ACB1BA"/>
              </a:solidFill>
              <a:latin typeface="Apto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805576" y="4352108"/>
            <a:ext cx="5029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dirty="0">
                <a:solidFill>
                  <a:srgbClr val="FFB24C"/>
                </a:solidFill>
                <a:latin typeface="Aptos"/>
              </a:rPr>
              <a:t>0</a:t>
            </a:r>
            <a:r>
              <a:rPr lang="en-US" sz="1000" b="1" dirty="0">
                <a:solidFill>
                  <a:srgbClr val="FFB24C"/>
                </a:solidFill>
                <a:latin typeface="Aptos"/>
              </a:rPr>
              <a:t>5</a:t>
            </a:r>
            <a:endParaRPr sz="1000" b="1" dirty="0">
              <a:solidFill>
                <a:srgbClr val="FFB24C"/>
              </a:solidFill>
              <a:latin typeface="Apto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162486" y="4330687"/>
            <a:ext cx="4892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400" b="1" dirty="0">
                <a:solidFill>
                  <a:srgbClr val="F5F6F8"/>
                </a:solidFill>
                <a:latin typeface="Aptos"/>
              </a:rPr>
              <a:t>Reduce Returns &amp; Customer Complaints</a:t>
            </a:r>
            <a:endParaRPr sz="1400" b="1" dirty="0">
              <a:solidFill>
                <a:srgbClr val="F5F6F8"/>
              </a:solidFill>
              <a:latin typeface="Apto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08206" y="4616158"/>
            <a:ext cx="4800600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US" sz="1050" b="0" dirty="0">
                <a:solidFill>
                  <a:srgbClr val="ACB1BA"/>
                </a:solidFill>
                <a:latin typeface="Aptos"/>
              </a:rPr>
              <a:t>Improve size/fit information, product descriptions, and quality—especially for Footwear and Women—to reduce returns and complaints.</a:t>
            </a:r>
            <a:endParaRPr sz="1050" b="0" dirty="0">
              <a:solidFill>
                <a:srgbClr val="ACB1BA"/>
              </a:solidFill>
              <a:latin typeface="Apto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CB1BA"/>
                </a:solidFill>
                <a:latin typeface="Aptos"/>
              </a:rPr>
              <a:t>Zalando Europe Product Performance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CB1BA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60D0E-1BCA-FB4C-5322-B0292D140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BD84AB-0E14-2939-C8D9-786B2BE1099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933239A-C6BE-7419-EDA6-00B4F8237E34}"/>
              </a:ext>
            </a:extLst>
          </p:cNvPr>
          <p:cNvSpPr txBox="1"/>
          <p:nvPr/>
        </p:nvSpPr>
        <p:spPr>
          <a:xfrm>
            <a:off x="640080" y="502920"/>
            <a:ext cx="9752617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en-US" sz="2600" b="1" dirty="0">
                <a:solidFill>
                  <a:schemeClr val="bg1"/>
                </a:solidFill>
                <a:latin typeface="Aptos"/>
              </a:rPr>
              <a:t>Recommendation/ Conclusion</a:t>
            </a:r>
            <a:endParaRPr sz="2600" b="1" dirty="0">
              <a:solidFill>
                <a:schemeClr val="bg1"/>
              </a:solidFill>
              <a:latin typeface="Apto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751D4C-BB98-C29D-78A7-97DEE05E63E3}"/>
              </a:ext>
            </a:extLst>
          </p:cNvPr>
          <p:cNvSpPr txBox="1"/>
          <p:nvPr/>
        </p:nvSpPr>
        <p:spPr>
          <a:xfrm>
            <a:off x="640080" y="141732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B24C"/>
                </a:solidFill>
                <a:latin typeface="Aptos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EF66F2-FEA2-C928-9CA3-EED75058A05C}"/>
              </a:ext>
            </a:extLst>
          </p:cNvPr>
          <p:cNvSpPr txBox="1"/>
          <p:nvPr/>
        </p:nvSpPr>
        <p:spPr>
          <a:xfrm>
            <a:off x="1207007" y="1399032"/>
            <a:ext cx="4892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chemeClr val="bg1"/>
                </a:solidFill>
                <a:latin typeface="Aptos"/>
              </a:rPr>
              <a:t>Prioritize high-performing products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CCF140-D228-7035-783C-72DBC8A98BB5}"/>
              </a:ext>
            </a:extLst>
          </p:cNvPr>
          <p:cNvSpPr txBox="1"/>
          <p:nvPr/>
        </p:nvSpPr>
        <p:spPr>
          <a:xfrm>
            <a:off x="1207007" y="1737360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 dirty="0">
                <a:solidFill>
                  <a:srgbClr val="ACB1BA"/>
                </a:solidFill>
                <a:latin typeface="Aptos"/>
              </a:rPr>
              <a:t>Maintain availability across Women, Footwear and Men; review low-performing Beauty and Sports products.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6D55DC-ADEA-FB3B-BA5A-B4973563A806}"/>
              </a:ext>
            </a:extLst>
          </p:cNvPr>
          <p:cNvSpPr txBox="1"/>
          <p:nvPr/>
        </p:nvSpPr>
        <p:spPr>
          <a:xfrm>
            <a:off x="6263640" y="141732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B24C"/>
                </a:solidFill>
                <a:latin typeface="Aptos"/>
              </a:rPr>
              <a:t>02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70D015-7860-261F-152E-298F7EFBB740}"/>
              </a:ext>
            </a:extLst>
          </p:cNvPr>
          <p:cNvSpPr txBox="1"/>
          <p:nvPr/>
        </p:nvSpPr>
        <p:spPr>
          <a:xfrm>
            <a:off x="6830568" y="1399032"/>
            <a:ext cx="4892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5F6F8"/>
                </a:solidFill>
                <a:latin typeface="Aptos"/>
              </a:rPr>
              <a:t>Align inventory with demand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CF12F5-DFAE-07C5-3B5F-9F8CA161DBB5}"/>
              </a:ext>
            </a:extLst>
          </p:cNvPr>
          <p:cNvSpPr txBox="1"/>
          <p:nvPr/>
        </p:nvSpPr>
        <p:spPr>
          <a:xfrm>
            <a:off x="6830568" y="1737360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CB1BA"/>
                </a:solidFill>
                <a:latin typeface="Aptos"/>
              </a:rPr>
              <a:t>Increase stock for rising demand and reduce excess stock in declining demand.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3EECEA-21E2-D762-6389-36263A5DE41F}"/>
              </a:ext>
            </a:extLst>
          </p:cNvPr>
          <p:cNvSpPr txBox="1"/>
          <p:nvPr/>
        </p:nvSpPr>
        <p:spPr>
          <a:xfrm>
            <a:off x="640080" y="26517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B24C"/>
                </a:solidFill>
                <a:latin typeface="Aptos"/>
              </a:rPr>
              <a:t>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ADEF1B-F241-9906-0BED-3A668EDD83AE}"/>
              </a:ext>
            </a:extLst>
          </p:cNvPr>
          <p:cNvSpPr txBox="1"/>
          <p:nvPr/>
        </p:nvSpPr>
        <p:spPr>
          <a:xfrm>
            <a:off x="1207007" y="2633472"/>
            <a:ext cx="4892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chemeClr val="bg1"/>
                </a:solidFill>
                <a:latin typeface="Aptos"/>
              </a:rPr>
              <a:t>Adopt market-specific strategies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0C042B-741A-F0C9-744D-16250C830299}"/>
              </a:ext>
            </a:extLst>
          </p:cNvPr>
          <p:cNvSpPr txBox="1"/>
          <p:nvPr/>
        </p:nvSpPr>
        <p:spPr>
          <a:xfrm>
            <a:off x="1207007" y="2971800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CB1BA"/>
                </a:solidFill>
                <a:latin typeface="Aptos"/>
              </a:rPr>
              <a:t>Use Germany's stronger performance to identify practices adaptable to weaker markets.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C86CE5-6FAE-24B5-7088-FB29E7785C42}"/>
              </a:ext>
            </a:extLst>
          </p:cNvPr>
          <p:cNvSpPr txBox="1"/>
          <p:nvPr/>
        </p:nvSpPr>
        <p:spPr>
          <a:xfrm>
            <a:off x="6263640" y="265176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B24C"/>
                </a:solidFill>
                <a:latin typeface="Aptos"/>
              </a:rPr>
              <a:t>04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9FBBFDD-0465-03A0-7E4A-99E6D03CFCF9}"/>
              </a:ext>
            </a:extLst>
          </p:cNvPr>
          <p:cNvSpPr txBox="1"/>
          <p:nvPr/>
        </p:nvSpPr>
        <p:spPr>
          <a:xfrm>
            <a:off x="6830568" y="2633472"/>
            <a:ext cx="4892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5F6F8"/>
                </a:solidFill>
                <a:latin typeface="Aptos"/>
              </a:rPr>
              <a:t>Apply strategic discounting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1351FB-6B1F-5DB3-E92B-D8B2314A634E}"/>
              </a:ext>
            </a:extLst>
          </p:cNvPr>
          <p:cNvSpPr txBox="1"/>
          <p:nvPr/>
        </p:nvSpPr>
        <p:spPr>
          <a:xfrm>
            <a:off x="6830568" y="2971800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CB1BA"/>
                </a:solidFill>
                <a:latin typeface="Aptos"/>
              </a:rPr>
              <a:t>Use moderate discounts for strong demand and deeper markdowns for declining or excess stock.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CE23A1-ABD0-7F81-2418-5E1BAF12BEAE}"/>
              </a:ext>
            </a:extLst>
          </p:cNvPr>
          <p:cNvSpPr txBox="1"/>
          <p:nvPr/>
        </p:nvSpPr>
        <p:spPr>
          <a:xfrm>
            <a:off x="640080" y="38862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B24C"/>
                </a:solidFill>
                <a:latin typeface="Aptos"/>
              </a:rPr>
              <a:t>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A4FD3F-704C-FA11-0A91-0C2098741050}"/>
              </a:ext>
            </a:extLst>
          </p:cNvPr>
          <p:cNvSpPr txBox="1"/>
          <p:nvPr/>
        </p:nvSpPr>
        <p:spPr>
          <a:xfrm>
            <a:off x="1207007" y="3867912"/>
            <a:ext cx="4892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5F6F8"/>
                </a:solidFill>
                <a:latin typeface="Aptos"/>
              </a:rPr>
              <a:t>Strengthen seller &amp; fulfilment strategy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68E272-8D15-A0E0-C73C-8D1992078C70}"/>
              </a:ext>
            </a:extLst>
          </p:cNvPr>
          <p:cNvSpPr txBox="1"/>
          <p:nvPr/>
        </p:nvSpPr>
        <p:spPr>
          <a:xfrm>
            <a:off x="1207007" y="4206240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CB1BA"/>
                </a:solidFill>
                <a:latin typeface="Aptos"/>
              </a:rPr>
              <a:t>Scale Wholesale and Platform Fulfilled practices into weaker-performing areas.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2E15C9-9127-5F12-C478-BACEC7D6A851}"/>
              </a:ext>
            </a:extLst>
          </p:cNvPr>
          <p:cNvSpPr txBox="1"/>
          <p:nvPr/>
        </p:nvSpPr>
        <p:spPr>
          <a:xfrm>
            <a:off x="6263640" y="388620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B24C"/>
                </a:solidFill>
                <a:latin typeface="Aptos"/>
              </a:rPr>
              <a:t>06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9A3F72-6636-0BF8-7277-F3E97E6BB6A2}"/>
              </a:ext>
            </a:extLst>
          </p:cNvPr>
          <p:cNvSpPr txBox="1"/>
          <p:nvPr/>
        </p:nvSpPr>
        <p:spPr>
          <a:xfrm>
            <a:off x="6830568" y="3867912"/>
            <a:ext cx="4892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5F6F8"/>
                </a:solidFill>
                <a:latin typeface="Aptos"/>
              </a:rPr>
              <a:t>Reduce returns &amp; complaints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CB0C4E-41E6-5656-73C5-19DDC74F2D05}"/>
              </a:ext>
            </a:extLst>
          </p:cNvPr>
          <p:cNvSpPr txBox="1"/>
          <p:nvPr/>
        </p:nvSpPr>
        <p:spPr>
          <a:xfrm>
            <a:off x="6830568" y="4206240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CB1BA"/>
                </a:solidFill>
                <a:latin typeface="Aptos"/>
              </a:rPr>
              <a:t>Improve fit information, descriptions and quality, especially in Footwear and Women.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0D63DF8-26D7-A555-5699-DF3E1B1E4EBF}"/>
              </a:ext>
            </a:extLst>
          </p:cNvPr>
          <p:cNvSpPr txBox="1"/>
          <p:nvPr/>
        </p:nvSpPr>
        <p:spPr>
          <a:xfrm>
            <a:off x="640080" y="51206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B24C"/>
                </a:solidFill>
                <a:latin typeface="Aptos"/>
              </a:rPr>
              <a:t>07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16BD62-3A07-A8E5-B428-E16DCC70CDD9}"/>
              </a:ext>
            </a:extLst>
          </p:cNvPr>
          <p:cNvSpPr txBox="1"/>
          <p:nvPr/>
        </p:nvSpPr>
        <p:spPr>
          <a:xfrm>
            <a:off x="1207007" y="5102352"/>
            <a:ext cx="4892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5F6F8"/>
                </a:solidFill>
                <a:latin typeface="Aptos"/>
              </a:rPr>
              <a:t>Protect Premium profitability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E665504-9A8A-F842-5606-5D413EF15AAC}"/>
              </a:ext>
            </a:extLst>
          </p:cNvPr>
          <p:cNvSpPr txBox="1"/>
          <p:nvPr/>
        </p:nvSpPr>
        <p:spPr>
          <a:xfrm>
            <a:off x="1207007" y="5440680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CB1BA"/>
                </a:solidFill>
                <a:latin typeface="Aptos"/>
              </a:rPr>
              <a:t>Maintain availability and avoid unnecessary discounting where Premium demand is strong.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09DFB2-E53B-9E5D-52FA-4CD2800EA34E}"/>
              </a:ext>
            </a:extLst>
          </p:cNvPr>
          <p:cNvSpPr txBox="1"/>
          <p:nvPr/>
        </p:nvSpPr>
        <p:spPr>
          <a:xfrm>
            <a:off x="6263640" y="5120640"/>
            <a:ext cx="502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FB24C"/>
                </a:solidFill>
                <a:latin typeface="Aptos"/>
              </a:rPr>
              <a:t>08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C2F848D-9390-F835-AA43-5EE8B2737BB0}"/>
              </a:ext>
            </a:extLst>
          </p:cNvPr>
          <p:cNvSpPr txBox="1"/>
          <p:nvPr/>
        </p:nvSpPr>
        <p:spPr>
          <a:xfrm>
            <a:off x="6830568" y="5102352"/>
            <a:ext cx="48920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dirty="0">
                <a:solidFill>
                  <a:srgbClr val="F5F6F8"/>
                </a:solidFill>
                <a:latin typeface="Aptos"/>
              </a:rPr>
              <a:t>Review product lifecycle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0B49-AB05-8C75-0FB8-5E5D97740322}"/>
              </a:ext>
            </a:extLst>
          </p:cNvPr>
          <p:cNvSpPr txBox="1"/>
          <p:nvPr/>
        </p:nvSpPr>
        <p:spPr>
          <a:xfrm>
            <a:off x="6830568" y="5440680"/>
            <a:ext cx="48006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CB1BA"/>
                </a:solidFill>
                <a:latin typeface="Aptos"/>
              </a:rPr>
              <a:t>Reassess older products with rising returns; update, reposition, discount or replace where appropriate.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60F8FD-F383-87CA-C703-ED1CF197F99B}"/>
              </a:ext>
            </a:extLst>
          </p:cNvPr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CB1BA"/>
                </a:solidFill>
                <a:latin typeface="Aptos"/>
              </a:rPr>
              <a:t>Zalando Europe Product Performance Analysis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F41863-16B7-B911-F6DF-243CF7FFF6A0}"/>
              </a:ext>
            </a:extLst>
          </p:cNvPr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CB1BA"/>
                </a:solidFill>
                <a:latin typeface="Aptos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542295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86667" y="804671"/>
            <a:ext cx="3319862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 dirty="0">
                <a:solidFill>
                  <a:srgbClr val="FFB24C"/>
                </a:solidFill>
                <a:latin typeface="Aptos"/>
              </a:rPr>
              <a:t>CORE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3327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dirty="0">
                <a:solidFill>
                  <a:srgbClr val="F5F6F8"/>
                </a:solidFill>
                <a:latin typeface="Aptos"/>
              </a:rPr>
              <a:t>Zalando's product portfolio demonstrates strong overall sales, profitability and demand, but performance is uneven across markets, products and operating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063240"/>
            <a:ext cx="996696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t>• Focus inventory and assortment decisions on actual demand.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t>• Use pricing and discounts selectively to balance conversion and margin.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t>• Transfer successful seller and fulfilment practices to weaker-performing areas.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t>• Address returns, complaints and ageing products to strengthen customer experience.</a:t>
            </a:r>
          </a:p>
          <a:p>
            <a:pPr>
              <a:spcAft>
                <a:spcPts val="900"/>
              </a:spcAft>
              <a:defRPr sz="1500">
                <a:solidFill>
                  <a:srgbClr val="F5F6F8"/>
                </a:solidFill>
                <a:latin typeface="Aptos"/>
              </a:defRPr>
            </a:pPr>
            <a:r>
              <a:t>• Continuously monitor sales, margins, demand, inventory, returns and fulfilment.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9893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ACB1BA"/>
                </a:solidFill>
                <a:latin typeface="Aptos"/>
              </a:rPr>
              <a:t>Duru Ruth  |  Data / Product Analyst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7772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ACB1BA"/>
                </a:solidFill>
                <a:latin typeface="Aptos"/>
              </a:rPr>
              <a:t>Zalando Europe Product Performance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50" b="0">
                <a:solidFill>
                  <a:srgbClr val="ACB1BA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8A6AD-C007-A476-207C-01BEB02D5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89" y="137652"/>
            <a:ext cx="11975691" cy="6626942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3E7F6A-282E-ABD8-BCD6-7F2237902A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0" y="216310"/>
            <a:ext cx="11847870" cy="66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622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8B6E8-30AF-A0E3-450E-079278C65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90" y="9832"/>
            <a:ext cx="12103510" cy="6858000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8F72B4-0905-B827-2337-DCA35CF79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2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04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DF73E-9956-773B-9696-A0AD50587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08F13B-FD9C-EA9A-95D7-0C0E03A73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490"/>
            <a:ext cx="12191999" cy="676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424310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141</TotalTime>
  <Words>1191</Words>
  <Application>Microsoft Office PowerPoint</Application>
  <PresentationFormat>Widescreen</PresentationFormat>
  <Paragraphs>197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Neue Haas Grotesk Text Pro</vt:lpstr>
      <vt:lpstr>System Font Regular</vt:lpstr>
      <vt:lpstr>Bjorn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obianuju duru</cp:lastModifiedBy>
  <cp:revision>2</cp:revision>
  <dcterms:created xsi:type="dcterms:W3CDTF">2013-01-27T09:14:16Z</dcterms:created>
  <dcterms:modified xsi:type="dcterms:W3CDTF">2026-09-27T10:47:07Z</dcterms:modified>
  <cp:category/>
</cp:coreProperties>
</file>